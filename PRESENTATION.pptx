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515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FFFFFF"/>
                </a:solidFill>
              </a:defRPr>
            </a:pPr>
            <a:r>
              <a:t>Book Management Web API</a:t>
            </a:r>
          </a:p>
          <a:p>
            <a:pPr>
              <a:defRPr sz="2200">
                <a:solidFill>
                  <a:srgbClr val="BBD6EF"/>
                </a:solidFill>
              </a:defRPr>
            </a:pPr>
            <a:r>
              <a:t>A RESTful API with CRUD Operations, Database Integration &amp; Advanced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38912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FFFFFF"/>
                </a:solidFill>
              </a:defRPr>
            </a:pPr>
            <a:r>
              <a:t>Course: XJCO3011 - Web Services and Web Data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Assignment: Coursework 1 - Individual Project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April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21295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AAAAAA"/>
                </a:solidFill>
              </a:defRPr>
            </a:p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82296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Project Overview &amp;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Develop a production-ready RESTful Web API for book metadata management</a:t>
            </a: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Implement full CRUD operations on Book resources</a:t>
            </a: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Integrate with a persistent database (SQLite via SQLAlchemy ORM)</a:t>
            </a: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Demonstrate advanced features beyond minimum requirements</a:t>
            </a: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Deploy using Docker containers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0" y="1463040"/>
            <a:ext cx="3474720" cy="4572000"/>
          </a:xfrm>
          <a:prstGeom prst="round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/>
          <a:lstStyle/>
          <a:p>
            <a:pPr algn="ctr">
              <a:spcAft>
                <a:spcPts val="1000"/>
              </a:spcAft>
              <a:defRPr sz="1800" b="1">
                <a:solidFill>
                  <a:srgbClr val="FFFFFF"/>
                </a:solidFill>
              </a:defRPr>
            </a:pPr>
            <a:r>
              <a:t>Key Deliverables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  8+ API endpoints (req: 4)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  22 automated tests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  API Documentation PDF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  Technical Report PDF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  Presentation Slides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  GitHub Repository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21295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AAAAAA"/>
                </a:solidFill>
              </a:defRPr>
            </a:pPr>
            <a:r>
              <a:t>XJCO3011 Coursework 1 | Book Management API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82296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Technology Stack Selection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FastAPI (Python): High performance, async support, auto-generated Swagger/ReDoc docs</a:t>
            </a: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SQLAlchemy ORM: Type-safe queries, easy migration to PostgreSQL/MySQL</a:t>
            </a: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Pydantic v2: Request/response validation at the API boundary</a:t>
            </a: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SQLite: Zero-configuration database, ideal for demonstration</a:t>
            </a: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pytest + TestClient: Isolated in-memory DB testing (22 tests)</a:t>
            </a: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Docker + Compose: Containerised deployment ready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21295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AAAAAA"/>
                </a:solidFill>
              </a:defRPr>
            </a:pPr>
            <a:r>
              <a:t>XJCO3011 Coursework 1 | Book Management API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82296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System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400">
                <a:solidFill>
                  <a:srgbClr val="2C3E50"/>
                </a:solidFill>
              </a:defRPr>
            </a:pPr>
            <a:r>
              <a:t>API Layer (FastAPI)</a:t>
            </a:r>
            <a:br/>
            <a:r>
              <a:t>  -&gt; Routes, Middleware (CORS/Timing/Logging)</a:t>
            </a:r>
            <a:br/>
            <a:br/>
            <a:r>
              <a:t>Schema Layer (Pydantic)</a:t>
            </a:r>
            <a:br/>
            <a:r>
              <a:t>  -&gt; Validation &amp; Serialization</a:t>
            </a:r>
            <a:br/>
            <a:br/>
            <a:r>
              <a:t>Data Layer (SQLAlchemy ORM)</a:t>
            </a:r>
            <a:br/>
            <a:r>
              <a:t>  -&gt; Business Logic &amp; Session Mgmt</a:t>
            </a:r>
            <a:br/>
            <a:br/>
            <a:r>
              <a:t>Storage Layer (SQLite .db)</a:t>
            </a:r>
            <a:br/>
            <a:r>
              <a:t>  -&gt; Persistent Data Store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0" y="1463040"/>
            <a:ext cx="3474720" cy="4572000"/>
          </a:xfrm>
          <a:prstGeom prst="round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/>
          <a:lstStyle/>
          <a:p>
            <a:pPr algn="ctr">
              <a:spcAft>
                <a:spcPts val="1000"/>
              </a:spcAft>
              <a:defRPr sz="1800" b="1">
                <a:solidFill>
                  <a:srgbClr val="FFFFFF"/>
                </a:solidFill>
              </a:defRPr>
            </a:pPr>
            <a:r>
              <a:t>Design Decisions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  Dependency Injection via FastAPI Depends()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  DRY Principle - shared query function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  Environment Variable Support (DATABASE_URL)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  Request Timing + Structured Logging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21295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AAAAAA"/>
                </a:solidFill>
              </a:defRPr>
            </a:pPr>
            <a:r>
              <a:t>XJCO3011 Coursework 1 | Book Management API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82296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API Endpoint Overview (8 Endpoints)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417320"/>
          <a:ext cx="82296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457200">
                <a:tc>
                  <a:txBody>
                    <a:bodyPr lIns="73152" rIns="73152"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Method</a:t>
                      </a:r>
                    </a:p>
                  </a:txBody>
                  <a:tcPr>
                    <a:solidFill>
                      <a:srgbClr val="065A82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Path</a:t>
                      </a:r>
                    </a:p>
                  </a:txBody>
                  <a:tcPr>
                    <a:solidFill>
                      <a:srgbClr val="065A82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Description</a:t>
                      </a:r>
                    </a:p>
                  </a:txBody>
                  <a:tcPr>
                    <a:solidFill>
                      <a:srgbClr val="065A82"/>
                    </a:solidFill>
                  </a:tcPr>
                </a:tc>
              </a:tr>
              <a:tr h="457200">
                <a:tc>
                  <a:txBody>
                    <a:bodyPr lIns="73152" rIns="73152"/>
                    <a:lstStyle/>
                    <a:p>
                      <a:pPr algn="ctr">
                        <a:defRPr sz="1300">
                          <a:solidFill>
                            <a:srgbClr val="2C3E50"/>
                          </a:solidFill>
                        </a:defRPr>
                      </a:pPr>
                      <a:r>
                        <a:t>GET</a:t>
                      </a:r>
                    </a:p>
                  </a:txBody>
                  <a:tcPr/>
                </a:tc>
                <a:tc>
                  <a:txBody>
                    <a:bodyPr lIns="73152" rIns="73152"/>
                    <a:lstStyle/>
                    <a:p>
                      <a:pPr algn="ctr">
                        <a:defRPr sz="1300">
                          <a:solidFill>
                            <a:srgbClr val="2C3E50"/>
                          </a:solidFill>
                        </a:defRPr>
                      </a:pPr>
                      <a:r>
                        <a:t>/</a:t>
                      </a:r>
                    </a:p>
                  </a:txBody>
                  <a:tcPr/>
                </a:tc>
                <a:tc>
                  <a:txBody>
                    <a:bodyPr lIns="73152" rIns="73152"/>
                    <a:lstStyle/>
                    <a:p>
                      <a:pPr algn="ctr">
                        <a:defRPr sz="1300">
                          <a:solidFill>
                            <a:srgbClr val="2C3E50"/>
                          </a:solidFill>
                        </a:defRPr>
                      </a:pPr>
                      <a:r>
                        <a:t>Root information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 lIns="73152" rIns="73152"/>
                    <a:lstStyle/>
                    <a:p>
                      <a:pPr algn="ctr">
                        <a:defRPr sz="1300">
                          <a:solidFill>
                            <a:srgbClr val="2C3E50"/>
                          </a:solidFill>
                        </a:defRPr>
                      </a:pPr>
                      <a:r>
                        <a:t>GET</a:t>
                      </a:r>
                    </a:p>
                  </a:txBody>
                  <a:tcPr/>
                </a:tc>
                <a:tc>
                  <a:txBody>
                    <a:bodyPr lIns="73152" rIns="73152"/>
                    <a:lstStyle/>
                    <a:p>
                      <a:pPr algn="ctr">
                        <a:defRPr sz="1300">
                          <a:solidFill>
                            <a:srgbClr val="2C3E50"/>
                          </a:solidFill>
                        </a:defRPr>
                      </a:pPr>
                      <a:r>
                        <a:t>/health</a:t>
                      </a:r>
                    </a:p>
                  </a:txBody>
                  <a:tcPr/>
                </a:tc>
                <a:tc>
                  <a:txBody>
                    <a:bodyPr lIns="73152" rIns="73152"/>
                    <a:lstStyle/>
                    <a:p>
                      <a:pPr algn="ctr">
                        <a:defRPr sz="1300">
                          <a:solidFill>
                            <a:srgbClr val="2C3E50"/>
                          </a:solidFill>
                        </a:defRPr>
                      </a:pPr>
                      <a:r>
                        <a:t>Health check endpoint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 lIns="73152" rIns="73152"/>
                    <a:lstStyle/>
                    <a:p>
                      <a:pPr algn="ctr">
                        <a:defRPr sz="1300">
                          <a:solidFill>
                            <a:srgbClr val="2C3E50"/>
                          </a:solidFill>
                        </a:defRPr>
                      </a:pPr>
                      <a:r>
                        <a:t>GET</a:t>
                      </a:r>
                    </a:p>
                  </a:txBody>
                  <a:tcPr/>
                </a:tc>
                <a:tc>
                  <a:txBody>
                    <a:bodyPr lIns="73152" rIns="73152"/>
                    <a:lstStyle/>
                    <a:p>
                      <a:pPr algn="ctr">
                        <a:defRPr sz="1300">
                          <a:solidFill>
                            <a:srgbClr val="2C3E50"/>
                          </a:solidFill>
                        </a:defRPr>
                      </a:pPr>
                      <a:r>
                        <a:t>/books</a:t>
                      </a:r>
                    </a:p>
                  </a:txBody>
                  <a:tcPr/>
                </a:tc>
                <a:tc>
                  <a:txBody>
                    <a:bodyPr lIns="73152" rIns="73152"/>
                    <a:lstStyle/>
                    <a:p>
                      <a:pPr algn="ctr">
                        <a:defRPr sz="1300">
                          <a:solidFill>
                            <a:srgbClr val="2C3E50"/>
                          </a:solidFill>
                        </a:defRPr>
                      </a:pPr>
                      <a:r>
                        <a:t>List (filter/sort/search/page)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 lIns="73152" rIns="73152"/>
                    <a:lstStyle/>
                    <a:p>
                      <a:pPr algn="ctr">
                        <a:defRPr sz="1300">
                          <a:solidFill>
                            <a:srgbClr val="2C3E50"/>
                          </a:solidFill>
                        </a:defRPr>
                      </a:pPr>
                      <a:r>
                        <a:t>GET</a:t>
                      </a:r>
                    </a:p>
                  </a:txBody>
                  <a:tcPr/>
                </a:tc>
                <a:tc>
                  <a:txBody>
                    <a:bodyPr lIns="73152" rIns="73152"/>
                    <a:lstStyle/>
                    <a:p>
                      <a:pPr algn="ctr">
                        <a:defRPr sz="1300">
                          <a:solidFill>
                            <a:srgbClr val="2C3E50"/>
                          </a:solidFill>
                        </a:defRPr>
                      </a:pPr>
                      <a:r>
                        <a:t>/books/{id}</a:t>
                      </a:r>
                    </a:p>
                  </a:txBody>
                  <a:tcPr/>
                </a:tc>
                <a:tc>
                  <a:txBody>
                    <a:bodyPr lIns="73152" rIns="73152"/>
                    <a:lstStyle/>
                    <a:p>
                      <a:pPr algn="ctr">
                        <a:defRPr sz="1300">
                          <a:solidFill>
                            <a:srgbClr val="2C3E50"/>
                          </a:solidFill>
                        </a:defRPr>
                      </a:pPr>
                      <a:r>
                        <a:t>Get single book details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 lIns="73152" rIns="73152"/>
                    <a:lstStyle/>
                    <a:p>
                      <a:pPr algn="ctr">
                        <a:defRPr sz="1300">
                          <a:solidFill>
                            <a:srgbClr val="2C3E50"/>
                          </a:solidFill>
                        </a:defRPr>
                      </a:pPr>
                      <a:r>
                        <a:t>POST</a:t>
                      </a:r>
                    </a:p>
                  </a:txBody>
                  <a:tcPr/>
                </a:tc>
                <a:tc>
                  <a:txBody>
                    <a:bodyPr lIns="73152" rIns="73152"/>
                    <a:lstStyle/>
                    <a:p>
                      <a:pPr algn="ctr">
                        <a:defRPr sz="1300">
                          <a:solidFill>
                            <a:srgbClr val="2C3E50"/>
                          </a:solidFill>
                        </a:defRPr>
                      </a:pPr>
                      <a:r>
                        <a:t>/books</a:t>
                      </a:r>
                    </a:p>
                  </a:txBody>
                  <a:tcPr/>
                </a:tc>
                <a:tc>
                  <a:txBody>
                    <a:bodyPr lIns="73152" rIns="73152"/>
                    <a:lstStyle/>
                    <a:p>
                      <a:pPr algn="ctr">
                        <a:defRPr sz="1300">
                          <a:solidFill>
                            <a:srgbClr val="2C3E50"/>
                          </a:solidFill>
                        </a:defRPr>
                      </a:pPr>
                      <a:r>
                        <a:t>Create new book (201)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 lIns="73152" rIns="73152"/>
                    <a:lstStyle/>
                    <a:p>
                      <a:pPr algn="ctr">
                        <a:defRPr sz="1300">
                          <a:solidFill>
                            <a:srgbClr val="2C3E50"/>
                          </a:solidFill>
                        </a:defRPr>
                      </a:pPr>
                      <a:r>
                        <a:t>PUT</a:t>
                      </a:r>
                    </a:p>
                  </a:txBody>
                  <a:tcPr/>
                </a:tc>
                <a:tc>
                  <a:txBody>
                    <a:bodyPr lIns="73152" rIns="73152"/>
                    <a:lstStyle/>
                    <a:p>
                      <a:pPr algn="ctr">
                        <a:defRPr sz="1300">
                          <a:solidFill>
                            <a:srgbClr val="2C3E50"/>
                          </a:solidFill>
                        </a:defRPr>
                      </a:pPr>
                      <a:r>
                        <a:t>/books/{id}</a:t>
                      </a:r>
                    </a:p>
                  </a:txBody>
                  <a:tcPr/>
                </a:tc>
                <a:tc>
                  <a:txBody>
                    <a:bodyPr lIns="73152" rIns="73152"/>
                    <a:lstStyle/>
                    <a:p>
                      <a:pPr algn="ctr">
                        <a:defRPr sz="1300">
                          <a:solidFill>
                            <a:srgbClr val="2C3E50"/>
                          </a:solidFill>
                        </a:defRPr>
                      </a:pPr>
                      <a:r>
                        <a:t>Update book (partial)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 lIns="73152" rIns="73152"/>
                    <a:lstStyle/>
                    <a:p>
                      <a:pPr algn="ctr">
                        <a:defRPr sz="1300">
                          <a:solidFill>
                            <a:srgbClr val="2C3E50"/>
                          </a:solidFill>
                        </a:defRPr>
                      </a:pPr>
                      <a:r>
                        <a:t>DELETE</a:t>
                      </a:r>
                    </a:p>
                  </a:txBody>
                  <a:tcPr/>
                </a:tc>
                <a:tc>
                  <a:txBody>
                    <a:bodyPr lIns="73152" rIns="73152"/>
                    <a:lstStyle/>
                    <a:p>
                      <a:pPr algn="ctr">
                        <a:defRPr sz="1300">
                          <a:solidFill>
                            <a:srgbClr val="2C3E50"/>
                          </a:solidFill>
                        </a:defRPr>
                      </a:pPr>
                      <a:r>
                        <a:t>/books/{id}</a:t>
                      </a:r>
                    </a:p>
                  </a:txBody>
                  <a:tcPr/>
                </a:tc>
                <a:tc>
                  <a:txBody>
                    <a:bodyPr lIns="73152" rIns="73152"/>
                    <a:lstStyle/>
                    <a:p>
                      <a:pPr algn="ctr">
                        <a:defRPr sz="1300">
                          <a:solidFill>
                            <a:srgbClr val="2C3E50"/>
                          </a:solidFill>
                        </a:defRPr>
                      </a:pPr>
                      <a:r>
                        <a:t>Delete book (200)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 lIns="73152" rIns="73152"/>
                    <a:lstStyle/>
                    <a:p>
                      <a:pPr algn="ctr">
                        <a:defRPr sz="1300">
                          <a:solidFill>
                            <a:srgbClr val="2C3E50"/>
                          </a:solidFill>
                        </a:defRPr>
                      </a:pPr>
                      <a:r>
                        <a:t>GET</a:t>
                      </a:r>
                    </a:p>
                  </a:txBody>
                  <a:tcPr/>
                </a:tc>
                <a:tc>
                  <a:txBody>
                    <a:bodyPr lIns="73152" rIns="73152"/>
                    <a:lstStyle/>
                    <a:p>
                      <a:pPr algn="ctr">
                        <a:defRPr sz="1300">
                          <a:solidFill>
                            <a:srgbClr val="2C3E50"/>
                          </a:solidFill>
                        </a:defRPr>
                      </a:pPr>
                      <a:r>
                        <a:t>/stats</a:t>
                      </a:r>
                    </a:p>
                  </a:txBody>
                  <a:tcPr/>
                </a:tc>
                <a:tc>
                  <a:txBody>
                    <a:bodyPr lIns="73152" rIns="73152"/>
                    <a:lstStyle/>
                    <a:p>
                      <a:pPr algn="ctr">
                        <a:defRPr sz="1300">
                          <a:solidFill>
                            <a:srgbClr val="2C3E50"/>
                          </a:solidFill>
                        </a:defRPr>
                      </a:pPr>
                      <a:r>
                        <a:t>Collection statistics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Rectangle 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21295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AAAAAA"/>
                </a:solidFill>
              </a:defRPr>
            </a:pPr>
            <a:r>
              <a:t>XJCO3011 Coursework 1 | Book Management API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82296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Advanced Features (Beyond Requirements)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Filtering: by genre, author, min_rating</a:t>
            </a: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Full-text search: across title &amp; description</a:t>
            </a: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Multi-field sorting: 5 sortable fields</a:t>
            </a: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Rich pagination metadata: has_next/previous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65760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API versioning: /api/v1/books alias</a:t>
            </a: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Request timing header: X-Process-Time</a:t>
            </a: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Structured request logging</a:t>
            </a: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ISBN uniqueness enforcement (409 Conflict)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0" y="1463040"/>
            <a:ext cx="3474720" cy="4572000"/>
          </a:xfrm>
          <a:prstGeom prst="round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/>
          <a:lstStyle/>
          <a:p>
            <a:pPr algn="ctr">
              <a:spcAft>
                <a:spcPts val="1000"/>
              </a:spcAft>
              <a:defRPr sz="1800" b="1">
                <a:solidFill>
                  <a:srgbClr val="FFFFFF"/>
                </a:solidFill>
              </a:defRPr>
            </a:pPr>
            <a:r>
              <a:t>By The Numbers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  8+ endpoints (min: 4)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  22 test cases (13 original)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  12 sample books / 7 genres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  6 HTTP status codes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21295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AAAAAA"/>
                </a:solidFill>
              </a:defRPr>
            </a:pPr>
            <a:r>
              <a:t>XJCO3011 Coursework 1 | Book Management API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82296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Error Handling &amp; Status Codes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500">
                <a:solidFill>
                  <a:srgbClr val="2C3E50"/>
                </a:solidFill>
              </a:defRPr>
            </a:pPr>
            <a:r>
              <a:t>200 OK - Successful GET, PUT, DELETE responses</a:t>
            </a:r>
            <a:br/>
            <a:r>
              <a:t>201 Created - POST creates new resource successfully</a:t>
            </a:r>
            <a:br/>
            <a:r>
              <a:t>400 Bad Request - Invalid query parameters</a:t>
            </a:r>
            <a:br/>
            <a:r>
              <a:t>404 Not Found - Non-existent resource requested</a:t>
            </a:r>
            <a:br/>
            <a:r>
              <a:t>409 Conflict - Duplicate ISBN detected</a:t>
            </a:r>
            <a:br/>
            <a:r>
              <a:t>422 Unprocessable Entity - Pydantic validation failure</a:t>
            </a:r>
            <a:br/>
            <a:r>
              <a:t>500 Internal Server Error - Unexpected server exception</a:t>
            </a:r>
            <a:br/>
            <a:br/>
            <a:r>
              <a:t>Consistent JSON error format:</a:t>
            </a:r>
            <a:br/>
            <a:r>
              <a:t>  { detail, error_code, timestamp, path }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0" y="1463040"/>
            <a:ext cx="3474720" cy="4572000"/>
          </a:xfrm>
          <a:prstGeom prst="round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/>
          <a:lstStyle/>
          <a:p>
            <a:pPr algn="ctr">
              <a:spcAft>
                <a:spcPts val="1000"/>
              </a:spcAft>
              <a:defRPr sz="1800" b="1">
                <a:solidFill>
                  <a:srgbClr val="FFFFFF"/>
                </a:solidFill>
              </a:defRPr>
            </a:pPr>
            <a:r>
              <a:t>Key Patterns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  HTTPException for known errors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  Global fallback handler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  Structured error envelope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  No stack trace leaks to client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21295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AAAAAA"/>
                </a:solidFill>
              </a:defRPr>
            </a:pPr>
            <a:r>
              <a:t>XJCO3011 Coursework 1 | Book Management API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82296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Testing &amp; Quality Assurance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17320"/>
            <a:ext cx="7315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C3E50"/>
                </a:solidFill>
              </a:defRPr>
            </a:pPr>
            <a:r>
              <a:t>  Root &amp; Health: 2 tests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56232"/>
            <a:ext cx="7315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C3E50"/>
                </a:solidFill>
              </a:defRPr>
            </a:pPr>
            <a:r>
              <a:t>  Create (POST): 4 tests - success, conflict, minimal, validation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295144"/>
            <a:ext cx="7315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C3E50"/>
                </a:solidFill>
              </a:defRPr>
            </a:pPr>
            <a:r>
              <a:t>  Read (GET single): 3 tests - found, not found, schema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734056"/>
            <a:ext cx="7315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C3E50"/>
                </a:solidFill>
              </a:defRPr>
            </a:pPr>
            <a:r>
              <a:t>  Update (PUT): 3 tests - partial update, not found, ISBN conflict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172968"/>
            <a:ext cx="7315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C3E50"/>
                </a:solidFill>
              </a:defRPr>
            </a:pPr>
            <a:r>
              <a:t>  Delete (DELETE): 2 tests - success+verify, not found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611880"/>
            <a:ext cx="7315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C3E50"/>
                </a:solidFill>
              </a:defRPr>
            </a:pPr>
            <a:r>
              <a:t>  List (GET): 9 tests - filters, search, sort, pagination, v1 parity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050792"/>
            <a:ext cx="7315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C3E50"/>
                </a:solidFill>
              </a:defRPr>
            </a:pPr>
            <a:r>
              <a:t>  Statistics: 3 tests - count, avg rating, genre distribution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489704"/>
            <a:ext cx="7315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C3E50"/>
                </a:solidFill>
              </a:defRPr>
            </a:pPr>
            <a:r>
              <a:t>  Validation: 3 tests - boundary values, empty fields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0" y="1463040"/>
            <a:ext cx="3474720" cy="4572000"/>
          </a:xfrm>
          <a:prstGeom prst="round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/>
          <a:lstStyle/>
          <a:p>
            <a:pPr algn="ctr">
              <a:spcAft>
                <a:spcPts val="1000"/>
              </a:spcAft>
              <a:defRPr sz="1800" b="1">
                <a:solidFill>
                  <a:srgbClr val="FFFFFF"/>
                </a:solidFill>
              </a:defRPr>
            </a:pPr>
            <a:r>
              <a:t>Test Infrastructure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  Framework: pytest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  Client: FastAPI TestClient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  DB: In-memory SQLite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  Isolation: fresh DB per test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  Speed: ~0.3s full suite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21295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AAAAAA"/>
                </a:solidFill>
              </a:defRPr>
            </a:pPr>
            <a:r>
              <a:t>XJCO3011 Coursework 1 | Book Management API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82296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Version Control &amp; GitHub Repository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400">
                <a:solidFill>
                  <a:srgbClr val="2C3E50"/>
                </a:solidFill>
              </a:defRPr>
            </a:pPr>
            <a:r>
              <a:t>Commit 1: "Initial project setup: dependencies and Docker config"</a:t>
            </a:r>
            <a:br/>
            <a:r>
              <a:t>Commit 2: "Add database models and Pydantic validation schemas"</a:t>
            </a:r>
            <a:br/>
            <a:r>
              <a:t>Commit 3: "Implement data loader with 12 sample books across 7 genres"</a:t>
            </a:r>
            <a:br/>
            <a:r>
              <a:t>Commit 4: "Implement core API: 8 endpoints with CRUD, filtering, search"</a:t>
            </a:r>
            <a:br/>
            <a:r>
              <a:t>Commit 5: "Add comprehensive test suite: 22 tests across 10 classes"</a:t>
            </a:r>
            <a:br/>
            <a:r>
              <a:t>Commit 6: "Add project README and comprehensive API documentation"</a:t>
            </a:r>
            <a:br/>
            <a:r>
              <a:t>Commit 7: "Add technical report and GenAI usage declaration"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0" y="1463040"/>
            <a:ext cx="3474720" cy="4572000"/>
          </a:xfrm>
          <a:prstGeom prst="round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/>
          <a:lstStyle/>
          <a:p>
            <a:pPr algn="ctr">
              <a:spcAft>
                <a:spcPts val="1000"/>
              </a:spcAft>
              <a:defRPr sz="1800" b="1">
                <a:solidFill>
                  <a:srgbClr val="FFFFFF"/>
                </a:solidFill>
              </a:defRPr>
            </a:pPr>
            <a:r>
              <a:t>Repository Contents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  Source code (Python)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  README.md with setup guide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  API_DOCUMENTATION.pdf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  TECHNICAL_REPORT.pdf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  GENAI_DECLARATION.md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  PRESENTATION.pptx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  Docker configuration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21295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AAAAAA"/>
                </a:solidFill>
              </a:defRPr>
            </a:pPr>
            <a:r>
              <a:t>XJCO3011 Coursework 1 | Book Management API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82296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Generative AI Usage Declaration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400">
                <a:solidFill>
                  <a:srgbClr val="2C3E50"/>
                </a:solidFill>
              </a:defRPr>
            </a:pPr>
            <a:r>
              <a:t>Assessment Category: GREEN (AI integral to assessment)</a:t>
            </a:r>
            <a:br/>
            <a:br/>
            <a:r>
              <a:t>Tools Used:</a:t>
            </a:r>
            <a:br/>
            <a:r>
              <a:t>  - Microsoft Copilot / GitHub Copilot (~25%)</a:t>
            </a:r>
            <a:br/>
            <a:r>
              <a:t>  - AI Chat Assistant GPT-based (~20%)</a:t>
            </a:r>
            <a:br/>
            <a:r>
              <a:t>  - Human implementation (~55%)</a:t>
            </a:r>
            <a:br/>
            <a:br/>
            <a:r>
              <a:t>AI Assisted With:</a:t>
            </a:r>
            <a:br/>
            <a:r>
              <a:t>  - Code structure scaffolding and patterns</a:t>
            </a:r>
            <a:br/>
            <a:r>
              <a:t>  - Pydantic schema design suggestions</a:t>
            </a:r>
            <a:br/>
            <a:r>
              <a:t>  - Test case organisation strategies</a:t>
            </a:r>
            <a:br/>
            <a:r>
              <a:t>  - Documentation formatting and English refinement</a:t>
            </a:r>
            <a:br/>
            <a:br/>
            <a:r>
              <a:t>Human Work:</a:t>
            </a:r>
            <a:br/>
            <a:r>
              <a:t>  - Requirements analysis and interpretation</a:t>
            </a:r>
            <a:br/>
            <a:r>
              <a:t>  - Business logic implementation and debugging</a:t>
            </a:r>
            <a:br/>
            <a:r>
              <a:t>  - All code review, testing verification</a:t>
            </a:r>
            <a:br/>
            <a:r>
              <a:t>  - Final quality assurance review</a:t>
            </a:r>
            <a:br/>
            <a:br/>
            <a:r>
              <a:t>All AI outputs were reviewed, tested, and modified.</a:t>
            </a:r>
            <a:br/>
            <a:r>
              <a:t>See GENAI_DECLARATION.md for detailed conversation logs.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21295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AAAAAA"/>
                </a:solidFill>
              </a:defRPr>
            </a:pPr>
            <a:r>
              <a:t>XJCO3011 Coursework 1 | Book Management API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82296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Conclusion &amp; Future 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600">
                <a:solidFill>
                  <a:srgbClr val="2C3E50"/>
                </a:solidFill>
              </a:defRPr>
            </a:pPr>
            <a:r>
              <a:t>Achieved all technical requirements with advanced features</a:t>
            </a:r>
            <a:br/>
            <a:r>
              <a:t>8 endpoints exceeding the 4-endpoint minimum</a:t>
            </a:r>
            <a:br/>
            <a:r>
              <a:t>22 comprehensive automated tests across 10 categories</a:t>
            </a:r>
            <a:br/>
            <a:r>
              <a:t>Professional documentation: API docs + Technical Report</a:t>
            </a:r>
            <a:br/>
            <a:r>
              <a:t>Clean architecture following DRY and SOLID principles</a:t>
            </a:r>
            <a:br/>
            <a:br/>
            <a:r>
              <a:t>Planned Future Improvements:</a:t>
            </a:r>
            <a:br/>
            <a:r>
              <a:t>  - JWT authentication (OAuth2 password flow)</a:t>
            </a:r>
            <a:br/>
            <a:r>
              <a:t>  - PostgreSQL migration with Alembic</a:t>
            </a:r>
            <a:br/>
            <a:r>
              <a:t>  - Full-text search (Elasticsearch / PostgreSQL FTS)</a:t>
            </a:r>
            <a:br/>
            <a:r>
              <a:t>  - Redis caching layer</a:t>
            </a:r>
            <a:br/>
            <a:r>
              <a:t>  - Rate limiting middleware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0" y="1463040"/>
            <a:ext cx="3474720" cy="4572000"/>
          </a:xfrm>
          <a:prstGeom prst="round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/>
          <a:lstStyle/>
          <a:p>
            <a:pPr algn="ctr">
              <a:spcAft>
                <a:spcPts val="1000"/>
              </a:spcAft>
              <a:defRPr sz="1800" b="1">
                <a:solidFill>
                  <a:srgbClr val="FFFFFF"/>
                </a:solidFill>
              </a:defRPr>
            </a:pPr>
            <a:r>
              <a:t>Submission Checklist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  [x] Code Repository (GitHub)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  [x] README.md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  [x] API Documentation (PDF)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  [x] Technical Report (PDF)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  [x] Presentation (PPTX)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  [x] GenAI Declaration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21295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AAAAAA"/>
                </a:solidFill>
              </a:defRPr>
            </a:pPr>
            <a:r>
              <a:t>XJCO3011 Coursework 1 | Book Management API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0515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Live Demonstration &amp; Q&amp;A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3474720"/>
            <a:ext cx="822960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>
                <a:solidFill>
                  <a:srgbClr val="DDEEFF"/>
                </a:solidFill>
              </a:defRPr>
            </a:pPr>
            <a:r>
              <a:t>1. Show API Documentation (Swagger UI @ /docs)</a:t>
            </a:r>
          </a:p>
          <a:p>
            <a:pPr algn="l">
              <a:defRPr sz="1800">
                <a:solidFill>
                  <a:srgbClr val="DDEEFF"/>
                </a:solidFill>
              </a:defRPr>
            </a:pPr>
            <a:r>
              <a:t>2. Create a book (POST /books) -&gt; 201</a:t>
            </a:r>
          </a:p>
          <a:p>
            <a:pPr algn="l">
              <a:defRPr sz="1800">
                <a:solidFill>
                  <a:srgbClr val="DDEEFF"/>
                </a:solidFill>
              </a:defRPr>
            </a:pPr>
            <a:r>
              <a:t>3. List books with filters (genre, search, sort, pagination)</a:t>
            </a:r>
          </a:p>
          <a:p>
            <a:pPr algn="l">
              <a:defRPr sz="1800">
                <a:solidFill>
                  <a:srgbClr val="DDEEFF"/>
                </a:solidFill>
              </a:defRPr>
            </a:pPr>
            <a:r>
              <a:t>4. Get single book, Update, Delete</a:t>
            </a:r>
          </a:p>
          <a:p>
            <a:pPr algn="l">
              <a:defRPr sz="1800">
                <a:solidFill>
                  <a:srgbClr val="DDEEFF"/>
                </a:solidFill>
              </a:defRPr>
            </a:pPr>
            <a:r>
              <a:t>5. Show statistics (/stats)</a:t>
            </a:r>
          </a:p>
          <a:p>
            <a:pPr algn="l">
              <a:defRPr sz="1800">
                <a:solidFill>
                  <a:srgbClr val="DDEEFF"/>
                </a:solidFill>
              </a:defRPr>
            </a:pPr>
            <a:r>
              <a:t>6. Demonstrate error handling (404, 409, 422)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76072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E74C3C"/>
                </a:solidFill>
              </a:defRPr>
            </a:pPr>
            <a: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